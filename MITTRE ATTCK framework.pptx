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8A01-6684-427D-BFC2-672213636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6FDC7-BCDB-4FD2-A29D-C60E9F7DA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2C24-F985-4269-BB21-E7B7C27E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BF09D-C1F6-442A-95C4-5A0080F8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2E134-A716-4DFA-A29D-E8228A93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6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DFD4-8DF7-438E-A9F4-A1386AB3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20D56-B249-4A4E-84F6-38BF0C41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DBA5-89E9-4146-AF13-C77967FA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FDFEF-EAF4-4DBC-96E1-1C8672C9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E642-68CC-4408-A8F2-8C8A6E61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08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B70A-17B2-406D-94D5-A5309B25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5A5FD-C9C9-4856-B13C-683938A42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8F67-26A7-49BD-BCF4-EB474CB0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230EF-BA07-4A50-897F-5EE2A308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3BE75-1B6F-4287-9B54-6BF53861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82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AFCE-24FC-4003-9A8E-80876E6B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CC88-D43F-4202-8960-8DB10C4FB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66865-06C3-47B6-A15F-050E2B461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CA983-E2B6-4CCA-92AB-43E22DDA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20A8-E12E-4EEB-8D29-A3B6250A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26FD7-FC73-4033-AC8B-8E697B3F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087C-F68A-4193-B5AF-CBC03FAB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184D6-C76C-407A-8222-27115BFAF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88D4C-9BE9-4F0D-9201-138E95A8A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DC472-59D4-4859-93F4-87944A7B9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48CB7-2229-4069-B579-0AB46087F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17BFD-1EAA-4DDA-8451-B2EA3554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90F42-5789-436D-A4DF-DB6AEB94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B98AA8-336A-4ED8-AE6F-A758FD0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73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6839-C4D1-46DF-BEC5-40B24E90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D6419-49B9-47F8-B482-B17842F6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10E4D-B8E8-4089-A9CA-EBC28911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1329F-6D58-486C-855C-97BC458D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792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36B91-57BB-40C9-908C-F3080A37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EF66F-3BFC-41CD-9C54-5A438576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A4154-5B9C-4ABD-9D4F-28D4F22C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863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2BA1-021B-44CF-A61B-C31E0DB2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F359C-3A4D-42D5-8782-EB55CA07B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4AD7A-266F-454C-BA72-FDCC66283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2E9F0-639C-481F-A873-F7E309D2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FDBB2-B037-4E07-BD9F-D7C9643F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9AA75-6691-4FF6-9F0E-349A7E00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88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C74E-B56B-445B-B7B0-8B88542C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CA76F-A361-48C5-B027-0D6256136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63227-C1B3-421B-8499-89262565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661BE-3497-4C3E-AC90-E58C64F8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7AA18-920A-4B4F-944D-F5FA6828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9D11D-9D20-45B9-9CD5-67E17C00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59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750D-5C5B-4A7A-9209-A0C5BE02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D64E5-1AF8-409D-ACE0-085C4FA9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E4CCA-2BC3-45AE-9523-E7973460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DE2DB-F5F2-4368-B6FB-3BC349BC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00D1E-225C-4B7F-A069-EA885F0E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67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8689E-D9DF-418F-8AAA-5EE8CAF17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CF80D-0DFE-4915-B4CE-34667053B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E644-645D-4E3D-8886-C6ECB5C4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9E16-4132-4C2B-A472-6F32AA37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ED8D3-CEB0-4767-A001-18BD7860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29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16407-B32C-49F1-B624-84BE76D6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CA65E-A715-48D1-9CB4-25928DB12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C977E-5C34-492A-B3E4-F3441D22F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00004-5183-4EAC-AB6F-A55C91DB5DDC}" type="datetimeFigureOut">
              <a:rPr lang="en-IN" smtClean="0"/>
              <a:t>05-03-2025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F203-9EEF-4285-AFCE-42045750B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EFDD7-E154-4193-95AD-930444DEE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05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3365" y="1283728"/>
            <a:ext cx="10668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Model Using MITRE ATT&amp;CK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Feedback Sharing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86682" y="5388386"/>
            <a:ext cx="2846295" cy="1595120"/>
          </a:xfrm>
        </p:spPr>
        <p:txBody>
          <a:bodyPr>
            <a:normAutofit/>
          </a:bodyPr>
          <a:lstStyle/>
          <a:p>
            <a:pPr algn="l">
              <a:lnSpc>
                <a:spcPct val="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</a:t>
            </a:r>
          </a:p>
          <a:p>
            <a:pPr algn="l">
              <a:lnSpc>
                <a:spcPct val="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Ashish Kumar</a:t>
            </a:r>
          </a:p>
          <a:p>
            <a:pPr algn="l">
              <a:lnSpc>
                <a:spcPct val="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G</a:t>
            </a:r>
          </a:p>
          <a:p>
            <a:pPr algn="l">
              <a:lnSpc>
                <a:spcPct val="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Narendra Gadde</a:t>
            </a:r>
          </a:p>
          <a:p>
            <a:pPr algn="l">
              <a:lnSpc>
                <a:spcPct val="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Chaitra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D53B07-03F0-4D9C-B78A-C2693F1A1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705" t="4845" r="15555" b="2152"/>
          <a:stretch/>
        </p:blipFill>
        <p:spPr>
          <a:xfrm>
            <a:off x="0" y="502024"/>
            <a:ext cx="12192000" cy="6556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D969AD-F36C-42AF-8C11-E13B5A043183}"/>
              </a:ext>
            </a:extLst>
          </p:cNvPr>
          <p:cNvSpPr txBox="1"/>
          <p:nvPr/>
        </p:nvSpPr>
        <p:spPr>
          <a:xfrm>
            <a:off x="0" y="-21196"/>
            <a:ext cx="7234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 of Feedback Sharing System 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9B61-1A2F-4022-BF5A-0577F6D3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69289"/>
            <a:ext cx="10515600" cy="89889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APT-28 Threats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AEE19-6767-4877-80A7-EE5C45DB5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0" y="863821"/>
            <a:ext cx="11546542" cy="59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5A48-78D7-43B8-8578-E3EE1703D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5" y="-251012"/>
            <a:ext cx="10515600" cy="1102659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APT-48 Threats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4D2EF-064E-4C8B-8EC3-4FB7B327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7" y="618566"/>
            <a:ext cx="11501718" cy="623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6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E303-165A-4881-B609-6740EC2D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11" y="-31619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 Manually Identified Threats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8F1F8-CFBD-4041-B9EF-E9653F175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7849" y="1111847"/>
            <a:ext cx="11499808" cy="592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8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71A9E1-2ED9-4CE4-BA06-6A3DE3599B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31" r="29338" b="-1"/>
          <a:stretch/>
        </p:blipFill>
        <p:spPr>
          <a:xfrm>
            <a:off x="0" y="646331"/>
            <a:ext cx="12192000" cy="6265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E826FA-C429-4405-98AC-92E42180DD1E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3 Groups</a:t>
            </a:r>
          </a:p>
        </p:txBody>
      </p:sp>
    </p:spTree>
    <p:extLst>
      <p:ext uri="{BB962C8B-B14F-4D97-AF65-F5344CB8AC3E}">
        <p14:creationId xmlns:p14="http://schemas.microsoft.com/office/powerpoint/2010/main" val="826994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B174-EE21-4A7F-943E-FA51001B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70" y="3109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Files for reference of the 3 layers: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4288472-05C4-42E8-9E86-2121181FC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64598"/>
              </p:ext>
            </p:extLst>
          </p:nvPr>
        </p:nvGraphicFramePr>
        <p:xfrm>
          <a:off x="3453839" y="1847104"/>
          <a:ext cx="7080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708554" imgH="518081" progId="Package">
                  <p:embed/>
                </p:oleObj>
              </mc:Choice>
              <mc:Fallback>
                <p:oleObj name="Packager Shell Object" showAsIcon="1" r:id="rId2" imgW="708554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53839" y="1847104"/>
                        <a:ext cx="7080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EE34874-C9A4-446E-AC56-39535ED05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887400"/>
              </p:ext>
            </p:extLst>
          </p:nvPr>
        </p:nvGraphicFramePr>
        <p:xfrm>
          <a:off x="5150595" y="1837297"/>
          <a:ext cx="762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762142" imgH="518081" progId="Package">
                  <p:embed/>
                </p:oleObj>
              </mc:Choice>
              <mc:Fallback>
                <p:oleObj name="Packager Shell Object" showAsIcon="1" r:id="rId4" imgW="762142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0595" y="1837297"/>
                        <a:ext cx="7620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8571413-1164-4ACC-B5AB-47C1FA2DA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012235"/>
              </p:ext>
            </p:extLst>
          </p:nvPr>
        </p:nvGraphicFramePr>
        <p:xfrm>
          <a:off x="4213598" y="1847103"/>
          <a:ext cx="7080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708554" imgH="518081" progId="Package">
                  <p:embed/>
                </p:oleObj>
              </mc:Choice>
              <mc:Fallback>
                <p:oleObj name="Packager Shell Object" showAsIcon="1" r:id="rId6" imgW="708554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13598" y="1847103"/>
                        <a:ext cx="7080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2DE6C87-B5FC-47BE-9D90-9C3802F1F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80801"/>
              </p:ext>
            </p:extLst>
          </p:nvPr>
        </p:nvGraphicFramePr>
        <p:xfrm>
          <a:off x="5747122" y="1847103"/>
          <a:ext cx="16922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1691853" imgH="518081" progId="Package">
                  <p:embed/>
                </p:oleObj>
              </mc:Choice>
              <mc:Fallback>
                <p:oleObj name="Packager Shell Object" showAsIcon="1" r:id="rId8" imgW="1691853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47122" y="1847103"/>
                        <a:ext cx="16922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738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0426-6105-3B52-1FCD-2D147B9FD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643813"/>
            <a:ext cx="11084767" cy="553315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In the above MITRE and ATTCK framework we have used 3 layers threat mapping one is ATP group 28, APT group 48, and the third one is manually identified threats</a:t>
            </a:r>
          </a:p>
          <a:p>
            <a:r>
              <a:rPr lang="en-IN" dirty="0"/>
              <a:t>In our manually identified threats like during initial access phase we have highlighted </a:t>
            </a:r>
            <a:r>
              <a:rPr lang="en-IN" dirty="0" err="1"/>
              <a:t>Pishing</a:t>
            </a:r>
            <a:r>
              <a:rPr lang="en-IN" dirty="0"/>
              <a:t> attacks, Gather identity information like their email id which may further lead to dictionary attacks. To mitigate </a:t>
            </a:r>
            <a:r>
              <a:rPr lang="en-IN" dirty="0" err="1"/>
              <a:t>pishing</a:t>
            </a:r>
            <a:r>
              <a:rPr lang="en-IN" dirty="0"/>
              <a:t> attacks user education and security awareness is required to prevent them.</a:t>
            </a:r>
          </a:p>
          <a:p>
            <a:r>
              <a:rPr lang="en-IN" dirty="0"/>
              <a:t>In Resource development phase we have highlighted threats related to accounts compromise if </a:t>
            </a:r>
            <a:r>
              <a:rPr lang="en-IN" dirty="0" err="1"/>
              <a:t>pishing</a:t>
            </a:r>
            <a:r>
              <a:rPr lang="en-IN" dirty="0"/>
              <a:t> attack is executed successfully.</a:t>
            </a:r>
          </a:p>
          <a:p>
            <a:r>
              <a:rPr lang="en-IN" dirty="0"/>
              <a:t>In the execution phase we have identified and highlighted execution of malicious files or links which may happen via </a:t>
            </a:r>
            <a:r>
              <a:rPr lang="en-IN" dirty="0" err="1"/>
              <a:t>pishing</a:t>
            </a:r>
            <a:r>
              <a:rPr lang="en-IN" dirty="0"/>
              <a:t> attacks after which in persistence phase attacker elevate the privileges and try to stay in the system without user knowledge</a:t>
            </a:r>
          </a:p>
          <a:p>
            <a:r>
              <a:rPr lang="en-IN" dirty="0"/>
              <a:t>To mitigate threats related so malware execution regularly security updated must be patches   because attacker tries to use a vulnerability and exploit them , we can also install some antivirus </a:t>
            </a:r>
            <a:r>
              <a:rPr lang="en-IN" dirty="0" err="1"/>
              <a:t>softwares</a:t>
            </a:r>
            <a:r>
              <a:rPr lang="en-IN" dirty="0"/>
              <a:t> in our system which will detect such malwares </a:t>
            </a:r>
          </a:p>
          <a:p>
            <a:r>
              <a:rPr lang="en-IN" dirty="0"/>
              <a:t>We have also highlighted threats related to credential access through keylogging or password manager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58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3C05-BE30-97F4-0648-A4BB9A258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520"/>
            <a:ext cx="10515600" cy="5191443"/>
          </a:xfrm>
        </p:spPr>
        <p:txBody>
          <a:bodyPr/>
          <a:lstStyle/>
          <a:p>
            <a:r>
              <a:rPr lang="en-IN" dirty="0"/>
              <a:t>In the command and control section we have highlighted content injection threat in which the attacker can inject malicious content in the website </a:t>
            </a:r>
            <a:r>
              <a:rPr lang="en-IN" dirty="0" err="1"/>
              <a:t>url</a:t>
            </a:r>
            <a:r>
              <a:rPr lang="en-IN" dirty="0"/>
              <a:t> to steal user credentials or redirect them to some other sites, to mitigate this threat regular </a:t>
            </a:r>
            <a:r>
              <a:rPr lang="en-IN" dirty="0" err="1"/>
              <a:t>inpur</a:t>
            </a:r>
            <a:r>
              <a:rPr lang="en-IN" dirty="0"/>
              <a:t> validation and sanitation must be maintained </a:t>
            </a:r>
          </a:p>
          <a:p>
            <a:r>
              <a:rPr lang="en-IN" dirty="0"/>
              <a:t>Also as a security best practice a security audit must be performed yearly to check if all the controls are </a:t>
            </a:r>
            <a:r>
              <a:rPr lang="en-IN"/>
              <a:t>in place.</a:t>
            </a:r>
            <a:endParaRPr lang="en-IN" dirty="0"/>
          </a:p>
          <a:p>
            <a:r>
              <a:rPr lang="en-IN" dirty="0"/>
              <a:t>In the last slide we have combined the threats from the three layers </a:t>
            </a:r>
          </a:p>
        </p:txBody>
      </p:sp>
    </p:spTree>
    <p:extLst>
      <p:ext uri="{BB962C8B-B14F-4D97-AF65-F5344CB8AC3E}">
        <p14:creationId xmlns:p14="http://schemas.microsoft.com/office/powerpoint/2010/main" val="209966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D2D3B28FDEE41874E26D575A2DB8B" ma:contentTypeVersion="10" ma:contentTypeDescription="Create a new document." ma:contentTypeScope="" ma:versionID="5ce297d406a27c33aff960e29231645d">
  <xsd:schema xmlns:xsd="http://www.w3.org/2001/XMLSchema" xmlns:xs="http://www.w3.org/2001/XMLSchema" xmlns:p="http://schemas.microsoft.com/office/2006/metadata/properties" xmlns:ns3="2a359288-fef5-4a46-ae3e-1e788c736e63" targetNamespace="http://schemas.microsoft.com/office/2006/metadata/properties" ma:root="true" ma:fieldsID="b77001126ea897831823e472775e2c7b" ns3:_="">
    <xsd:import namespace="2a359288-fef5-4a46-ae3e-1e788c736e6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359288-fef5-4a46-ae3e-1e788c736e6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359288-fef5-4a46-ae3e-1e788c736e63" xsi:nil="true"/>
  </documentManagement>
</p:properties>
</file>

<file path=customXml/itemProps1.xml><?xml version="1.0" encoding="utf-8"?>
<ds:datastoreItem xmlns:ds="http://schemas.openxmlformats.org/officeDocument/2006/customXml" ds:itemID="{6BFA950F-181E-4733-B4A8-07BD0700F8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A55F8B-2089-4B7D-B081-C3D453E663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359288-fef5-4a46-ae3e-1e788c736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F78EE6-C70D-4CBC-9178-3A8C9A0A13AC}">
  <ds:schemaRefs>
    <ds:schemaRef ds:uri="http://purl.org/dc/dcmitype/"/>
    <ds:schemaRef ds:uri="http://purl.org/dc/terms/"/>
    <ds:schemaRef ds:uri="2a359288-fef5-4a46-ae3e-1e788c736e63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330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Packager Shell Object</vt:lpstr>
      <vt:lpstr> Threat Model Using MITRE ATT&amp;CK Use case: Feedback Sharing System</vt:lpstr>
      <vt:lpstr>PowerPoint Presentation</vt:lpstr>
      <vt:lpstr>Group APT-28 Threats</vt:lpstr>
      <vt:lpstr>Group APT-48 Threats</vt:lpstr>
      <vt:lpstr>Group 3 Manually Identified Threats</vt:lpstr>
      <vt:lpstr>PowerPoint Presentation</vt:lpstr>
      <vt:lpstr>JSON Files for reference of the 3 layers: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Model Using MITRE ATT&amp;CK Use case: Feedback Sharing System</dc:title>
  <dc:creator>Narendra Gadde</dc:creator>
  <cp:lastModifiedBy>Akshay Kumar</cp:lastModifiedBy>
  <cp:revision>7</cp:revision>
  <dcterms:created xsi:type="dcterms:W3CDTF">2025-02-24T12:17:00Z</dcterms:created>
  <dcterms:modified xsi:type="dcterms:W3CDTF">2025-03-05T11:51:12Z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0x01010002CD2D3B28FDEE41874E26D575A2DB8B</vt:lpwstr>
  </property>
</Properties>
</file>